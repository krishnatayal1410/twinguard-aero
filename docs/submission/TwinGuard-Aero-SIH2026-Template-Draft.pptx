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 wrap="square" lIns="18288" rIns="18288" tIns="18288" bIns="18288" anchor="ctr">
            <a:noAutofit/>
          </a:bodyPr>
          <a:lstStyle/>
          <a:p>
            <a:pPr algn="ctr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2800" b="1">
                <a:solidFill>
                  <a:srgbClr val="172F42"/>
                </a:solidFill>
                <a:latin typeface="Garamond"/>
              </a:rPr>
              <a:t xml:space="preserve">TwinGuard Aero</a:t>
            </a:r>
            <a:endParaRPr lang="en-US" sz="280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8912" y="2048256"/>
            <a:ext cx="6126480" cy="46085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Autofit/>
          </a:bodyPr>
          <a:lstStyle/>
          <a:p>
            <a:pPr algn="l" marL="0" indent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900" b="1">
                <a:solidFill>
                  <a:srgbClr val="172F42"/>
                </a:solidFill>
                <a:latin typeface="Arial"/>
              </a:rPr>
              <a:t xml:space="preserve">Problem Statement ID - SIH26054</a:t>
            </a:r>
            <a:endParaRPr lang="en-US" sz="1900"/>
          </a:p>
          <a:p>
            <a:pPr algn="l" marL="0" indent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700" b="1">
                <a:solidFill>
                  <a:srgbClr val="1F4E79"/>
                </a:solidFill>
                <a:latin typeface="Arial"/>
              </a:rPr>
              <a:t xml:space="preserve">Problem Statement Title</a:t>
            </a:r>
            <a:endParaRPr lang="en-US" sz="1700"/>
          </a:p>
          <a:p>
            <a:pPr algn="l" marL="0" indent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800" b="0">
                <a:solidFill>
                  <a:srgbClr val="172F42"/>
                </a:solidFill>
                <a:latin typeface="Arial"/>
              </a:rPr>
              <a:t xml:space="preserve">AI-Enabled Real-Time Digital Twin System for Health Monitoring, Fault Prediction and Mission Reliability Enhancement of Aero Piston Engines used in MALE UAVs.</a:t>
            </a:r>
            <a:endParaRPr lang="en-US" sz="1800"/>
          </a:p>
          <a:p>
            <a:pPr algn="l" marL="0" indent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800" b="1">
                <a:solidFill>
                  <a:srgbClr val="172F42"/>
                </a:solidFill>
                <a:latin typeface="Arial"/>
              </a:rPr>
              <a:t xml:space="preserve">Theme - Robotics and Drones</a:t>
            </a:r>
            <a:endParaRPr lang="en-US" sz="1800"/>
          </a:p>
          <a:p>
            <a:pPr algn="l" marL="0" indent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800" b="1">
                <a:solidFill>
                  <a:srgbClr val="172F42"/>
                </a:solidFill>
                <a:latin typeface="Arial"/>
              </a:rPr>
              <a:t xml:space="preserve">PS Category - Software</a:t>
            </a:r>
            <a:endParaRPr lang="en-US" sz="1800"/>
          </a:p>
          <a:p>
            <a:pPr algn="l" marL="0" indent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800" b="1">
                <a:solidFill>
                  <a:srgbClr val="976008"/>
                </a:solidFill>
                <a:latin typeface="Arial"/>
              </a:rPr>
              <a:t xml:space="preserve">Team ID - CONFIRM FROM PORTAL</a:t>
            </a:r>
            <a:endParaRPr lang="en-US" sz="1800"/>
          </a:p>
          <a:p>
            <a:pPr algn="l" marL="0" indent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800" b="1">
                <a:solidFill>
                  <a:srgbClr val="172F42"/>
                </a:solidFill>
                <a:latin typeface="Arial"/>
              </a:rPr>
              <a:t xml:space="preserve">Team Name - MINDMESH</a:t>
            </a:r>
            <a:endParaRPr lang="en-US" sz="1800"/>
          </a:p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400" b="0">
                <a:solidFill>
                  <a:srgbClr val="526879"/>
                </a:solidFill>
                <a:latin typeface="Arial"/>
              </a:rPr>
              <a:t xml:space="preserve">Synthetic prototype | Engine-specific validation planned</a:t>
            </a:r>
            <a:endParaRPr lang="en-US" sz="14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 wrap="square" lIns="27432" rIns="27432" tIns="27432" bIns="27432" anchor="ctr">
            <a:noAutofit/>
          </a:bodyPr>
          <a:lstStyle/>
          <a:p>
            <a:pPr algn="ctr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3200" b="1">
                <a:solidFill>
                  <a:srgbClr val="000000"/>
                </a:solidFill>
                <a:latin typeface="Garamond"/>
              </a:rPr>
              <a:t xml:space="preserve">TwinGuard Aero</a:t>
            </a:r>
            <a:endParaRPr lang="en-US" sz="3200"/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502920" y="1408176"/>
            <a:ext cx="7388352" cy="4645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54864" rIns="54864" tIns="54864" bIns="54864" anchor="t">
            <a:noAutofit/>
          </a:bodyPr>
          <a:lstStyle/>
          <a:p>
            <a:pPr algn="l" marL="0" indent="0">
              <a:lnSpc>
                <a:spcPct val="112000"/>
              </a:lnSpc>
              <a:spcAft>
                <a:spcPts val="1300"/>
              </a:spcAft>
              <a:buNone/>
            </a:pPr>
            <a:r>
              <a:rPr lang="en-US" sz="1800" b="1">
                <a:solidFill>
                  <a:srgbClr val="1F4E79"/>
                </a:solidFill>
                <a:latin typeface="Arial"/>
              </a:rPr>
              <a:t xml:space="preserve">Proposed Solution (Describe your Idea/Solution/Prototype)</a:t>
            </a:r>
            <a:endParaRPr lang="en-US" sz="1800"/>
          </a:p>
          <a:p>
            <a:pPr algn="l" marL="0" indent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800" b="1">
                <a:solidFill>
                  <a:srgbClr val="1F4E79"/>
                </a:solidFill>
                <a:latin typeface="Arial"/>
              </a:rPr>
              <a:t xml:space="preserve">Detailed explanation of the proposed solution</a:t>
            </a:r>
            <a:endParaRPr lang="en-US" sz="1800"/>
          </a:p>
          <a:p>
            <a:pPr algn="l" marL="0" indent="0">
              <a:lnSpc>
                <a:spcPct val="112000"/>
              </a:lnSpc>
              <a:spcAft>
                <a:spcPts val="1400"/>
              </a:spcAft>
              <a:buNone/>
            </a:pPr>
            <a:r>
              <a:rPr lang="en-US" sz="1800" b="0">
                <a:solidFill>
                  <a:srgbClr val="172F42"/>
                </a:solidFill>
                <a:latin typeface="Arial"/>
              </a:rPr>
              <a:t xml:space="preserve">A synchronized aero-piston twin combines a healthy reference, residual trends, Sensor Trust and explainable condition assessment.</a:t>
            </a:r>
            <a:endParaRPr lang="en-US" sz="1800"/>
          </a:p>
          <a:p>
            <a:pPr algn="l" marL="0" indent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800" b="1">
                <a:solidFill>
                  <a:srgbClr val="1F4E79"/>
                </a:solidFill>
                <a:latin typeface="Arial"/>
              </a:rPr>
              <a:t xml:space="preserve">How it addresses the problem</a:t>
            </a:r>
            <a:endParaRPr lang="en-US" sz="1800"/>
          </a:p>
          <a:p>
            <a:pPr algn="l" marL="0" indent="0">
              <a:lnSpc>
                <a:spcPct val="112000"/>
              </a:lnSpc>
              <a:spcAft>
                <a:spcPts val="1400"/>
              </a:spcAft>
              <a:buNone/>
            </a:pPr>
            <a:r>
              <a:rPr lang="en-US" sz="1800" b="0">
                <a:solidFill>
                  <a:srgbClr val="172F42"/>
                </a:solidFill>
                <a:latin typeface="Arial"/>
              </a:rPr>
              <a:t xml:space="preserve">Inspect the evidence behind a warning; compare the same mission before and after degradation; retain observations for review.</a:t>
            </a:r>
            <a:endParaRPr lang="en-US" sz="1800"/>
          </a:p>
          <a:p>
            <a:pPr algn="l" marL="0" indent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800" b="1">
                <a:solidFill>
                  <a:srgbClr val="1F4E79"/>
                </a:solidFill>
                <a:latin typeface="Arial"/>
              </a:rPr>
              <a:t xml:space="preserve">Innovation and uniqueness of the solution</a:t>
            </a:r>
            <a:endParaRPr lang="en-US" sz="1800"/>
          </a:p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800" b="0">
                <a:solidFill>
                  <a:srgbClr val="172F42"/>
                </a:solidFill>
                <a:latin typeface="Arial"/>
              </a:rPr>
              <a:t xml:space="preserve">Connect measurement trust, subsystem evidence and profile consequences in one traceable operator workflow.</a:t>
            </a:r>
            <a:endParaRPr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27432" rIns="27432" tIns="27432" bIns="27432" anchor="ctr">
            <a:noAutofit/>
          </a:bodyPr>
          <a:lstStyle/>
          <a:p>
            <a:pPr algn="ctr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200" b="1">
                <a:solidFill>
                  <a:srgbClr val="172F42"/>
                </a:solidFill>
                <a:latin typeface="Arial"/>
              </a:rPr>
              <a:t xml:space="preserve">MINDMESH</a:t>
            </a:r>
            <a:endParaRPr lang="en-US" sz="120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 xmlns:p="http://schemas.openxmlformats.org/presentationml/2006/main" xmlns:a="http://schemas.openxmlformats.org/drawingml/2006/main" xmlns:r="http://schemas.openxmlformats.org/officeDocument/2006/relationships">
        <p:nvSpPr>
          <p:cNvPr id="15363" name="Twin layer 0"/>
          <p:cNvSpPr txBox="1"/>
          <p:nvPr/>
        </p:nvSpPr>
        <p:spPr>
          <a:xfrm>
            <a:off x="8275320" y="1673352"/>
            <a:ext cx="3310128" cy="9601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txBody>
          <a:bodyPr wrap="square" lIns="128016" rIns="128016" tIns="128016" bIns="128016" anchor="ctr">
            <a:noAutofit/>
          </a:bodyPr>
          <a:lstStyle/>
          <a:p>
            <a:pPr algn="ctr"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2000" b="1">
                <a:solidFill>
                  <a:srgbClr val="1F4E79"/>
                </a:solidFill>
                <a:latin typeface="Arial"/>
              </a:rPr>
              <a:t xml:space="preserve">TRUST</a:t>
            </a:r>
            <a:endParaRPr lang="en-US" sz="2000"/>
          </a:p>
          <a:p>
            <a:pPr algn="ctr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600" b="0">
                <a:solidFill>
                  <a:srgbClr val="172F42"/>
                </a:solidFill>
                <a:latin typeface="Arial"/>
              </a:rPr>
              <a:t xml:space="preserve">Freshness + signal consistency</a:t>
            </a:r>
            <a:endParaRPr lang="en-US" sz="1600"/>
          </a:p>
        </p:txBody>
      </p:sp>
      <p:sp xmlns:p="http://schemas.openxmlformats.org/presentationml/2006/main" xmlns:a="http://schemas.openxmlformats.org/drawingml/2006/main" xmlns:r="http://schemas.openxmlformats.org/officeDocument/2006/relationships">
        <p:nvSpPr>
          <p:cNvPr id="15364" name="Twin layer 1"/>
          <p:cNvSpPr txBox="1"/>
          <p:nvPr/>
        </p:nvSpPr>
        <p:spPr>
          <a:xfrm>
            <a:off x="8275320" y="2852928"/>
            <a:ext cx="3310128" cy="9601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txBody>
          <a:bodyPr wrap="square" lIns="128016" rIns="128016" tIns="128016" bIns="128016" anchor="ctr">
            <a:noAutofit/>
          </a:bodyPr>
          <a:lstStyle/>
          <a:p>
            <a:pPr algn="ctr"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2000" b="1">
                <a:solidFill>
                  <a:srgbClr val="1F4E79"/>
                </a:solidFill>
                <a:latin typeface="Arial"/>
              </a:rPr>
              <a:t xml:space="preserve">CONDITION</a:t>
            </a:r>
            <a:endParaRPr lang="en-US" sz="2000"/>
          </a:p>
          <a:p>
            <a:pPr algn="ctr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600" b="0">
                <a:solidFill>
                  <a:srgbClr val="172F42"/>
                </a:solidFill>
                <a:latin typeface="Arial"/>
              </a:rPr>
              <a:t xml:space="preserve">Residuals + temporal evidence</a:t>
            </a:r>
            <a:endParaRPr lang="en-US" sz="1600"/>
          </a:p>
        </p:txBody>
      </p:sp>
      <p:sp xmlns:p="http://schemas.openxmlformats.org/presentationml/2006/main" xmlns:a="http://schemas.openxmlformats.org/drawingml/2006/main" xmlns:r="http://schemas.openxmlformats.org/officeDocument/2006/relationships">
        <p:nvSpPr>
          <p:cNvPr id="15365" name="Twin layer 2"/>
          <p:cNvSpPr txBox="1"/>
          <p:nvPr/>
        </p:nvSpPr>
        <p:spPr>
          <a:xfrm>
            <a:off x="8275320" y="4032504"/>
            <a:ext cx="3310128" cy="9601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txBody>
          <a:bodyPr wrap="square" lIns="128016" rIns="128016" tIns="128016" bIns="128016" anchor="ctr">
            <a:noAutofit/>
          </a:bodyPr>
          <a:lstStyle/>
          <a:p>
            <a:pPr algn="ctr"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2000" b="1">
                <a:solidFill>
                  <a:srgbClr val="1F4E79"/>
                </a:solidFill>
                <a:latin typeface="Arial"/>
              </a:rPr>
              <a:t xml:space="preserve">MISSION</a:t>
            </a:r>
            <a:endParaRPr lang="en-US" sz="2000"/>
          </a:p>
          <a:p>
            <a:pPr algn="ctr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600" b="0">
                <a:solidFill>
                  <a:srgbClr val="172F42"/>
                </a:solidFill>
                <a:latin typeface="Arial"/>
              </a:rPr>
              <a:t xml:space="preserve">State-dependent profile comparison</a:t>
            </a:r>
            <a:endParaRPr lang="en-US" sz="1600"/>
          </a:p>
        </p:txBody>
      </p:sp>
      <p:sp xmlns:p="http://schemas.openxmlformats.org/presentationml/2006/main" xmlns:a="http://schemas.openxmlformats.org/drawingml/2006/main" xmlns:r="http://schemas.openxmlformats.org/officeDocument/2006/relationships">
        <p:nvSpPr>
          <p:cNvPr id="15366" name="Prototype scope"/>
          <p:cNvSpPr txBox="1"/>
          <p:nvPr/>
        </p:nvSpPr>
        <p:spPr>
          <a:xfrm>
            <a:off x="8275320" y="5294376"/>
            <a:ext cx="3310128" cy="585216"/>
          </a:xfrm>
          <a:prstGeom prst="round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ctr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400" b="1">
                <a:solidFill>
                  <a:srgbClr val="976008"/>
                </a:solidFill>
                <a:latin typeface="Arial"/>
              </a:rPr>
              <a:t xml:space="preserve">Synthetic evidence; human review</a:t>
            </a:r>
            <a:endParaRPr 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30352" y="1389888"/>
            <a:ext cx="11155680" cy="1188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54864" rIns="54864" tIns="54864" bIns="54864" anchor="t">
            <a:noAutofit/>
          </a:bodyPr>
          <a:lstStyle/>
          <a:p>
            <a:pPr algn="l"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800" b="1">
                <a:solidFill>
                  <a:srgbClr val="1F4E79"/>
                </a:solidFill>
                <a:latin typeface="Arial"/>
              </a:rPr>
              <a:t xml:space="preserve">Technologies to be used (e.g. programming languages, frameworks, hardware)</a:t>
            </a:r>
            <a:endParaRPr lang="en-US" sz="1800"/>
          </a:p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800" b="0">
                <a:solidFill>
                  <a:srgbClr val="172F42"/>
                </a:solidFill>
                <a:latin typeface="Arial"/>
              </a:rPr>
              <a:t xml:space="preserve">React / TypeScript + Three.js; Python / FastAPI + WebSockets; SQLite locally; Docker / PostgreSQL path. Optional synthetic Isolation Forest and XGBoost models.</a:t>
            </a:r>
            <a:endParaRPr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27432" rIns="27432" tIns="27432" bIns="27432" anchor="ctr">
            <a:noAutofit/>
          </a:bodyPr>
          <a:lstStyle/>
          <a:p>
            <a:pPr algn="ctr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200" b="1">
                <a:solidFill>
                  <a:srgbClr val="172F42"/>
                </a:solidFill>
                <a:latin typeface="Arial"/>
              </a:rPr>
              <a:t xml:space="preserve">MINDMESH</a:t>
            </a:r>
            <a:endParaRPr lang="en-US" sz="120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 xmlns:p="http://schemas.openxmlformats.org/presentationml/2006/main" xmlns:a="http://schemas.openxmlformats.org/drawingml/2006/main" xmlns:r="http://schemas.openxmlformats.org/officeDocument/2006/relationships">
        <p:nvSpPr>
          <p:cNvPr id="17411" name="Methodology pointer"/>
          <p:cNvSpPr txBox="1"/>
          <p:nvPr/>
        </p:nvSpPr>
        <p:spPr>
          <a:xfrm>
            <a:off x="548640" y="2788920"/>
            <a:ext cx="11082528" cy="685800"/>
          </a:xfrm>
          <a:prstGeom prst="round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800" b="1">
                <a:solidFill>
                  <a:srgbClr val="1F4E79"/>
                </a:solidFill>
                <a:latin typeface="Arial"/>
              </a:rPr>
              <a:t xml:space="preserve">Methodology and process for implementation (Flow Charts/Images/ working prototype)</a:t>
            </a:r>
            <a:endParaRPr lang="en-US" sz="1800"/>
          </a:p>
        </p:txBody>
      </p:sp>
      <p:sp xmlns:p="http://schemas.openxmlformats.org/presentationml/2006/main" xmlns:a="http://schemas.openxmlformats.org/drawingml/2006/main" xmlns:r="http://schemas.openxmlformats.org/officeDocument/2006/relationships">
        <p:nvSpPr>
          <p:cNvPr id="17412" name="Pipeline 0"/>
          <p:cNvSpPr txBox="1"/>
          <p:nvPr/>
        </p:nvSpPr>
        <p:spPr>
          <a:xfrm>
            <a:off x="566928" y="3538728"/>
            <a:ext cx="2633472" cy="1078992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txBody>
          <a:bodyPr wrap="square" lIns="128016" rIns="128016" tIns="128016" bIns="128016" anchor="ctr">
            <a:noAutofit/>
          </a:bodyPr>
          <a:lstStyle/>
          <a:p>
            <a:pPr algn="ctr" marL="0" indent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2100" b="1">
                <a:solidFill>
                  <a:srgbClr val="1F4E79"/>
                </a:solidFill>
                <a:latin typeface="Arial"/>
              </a:rPr>
              <a:t xml:space="preserve">Telemetry</a:t>
            </a:r>
            <a:endParaRPr lang="en-US" sz="2100"/>
          </a:p>
          <a:p>
            <a:pPr algn="ctr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600" b="0">
                <a:solidFill>
                  <a:srgbClr val="172F42"/>
                </a:solidFill>
                <a:latin typeface="Arial"/>
              </a:rPr>
              <a:t xml:space="preserve">Simulator / authorized adapter</a:t>
            </a:r>
            <a:endParaRPr lang="en-US" sz="1600"/>
          </a:p>
        </p:txBody>
      </p:sp>
      <p:sp xmlns:p="http://schemas.openxmlformats.org/presentationml/2006/main" xmlns:a="http://schemas.openxmlformats.org/drawingml/2006/main" xmlns:r="http://schemas.openxmlformats.org/officeDocument/2006/relationships">
        <p:nvSpPr>
          <p:cNvPr id="17413" name="Arrow 0"/>
          <p:cNvSpPr txBox="1"/>
          <p:nvPr/>
        </p:nvSpPr>
        <p:spPr>
          <a:xfrm>
            <a:off x="3191256" y="3813048"/>
            <a:ext cx="292608" cy="502920"/>
          </a:xfrm>
          <a:prstGeom prst="round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ctr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2300" b="1">
                <a:solidFill>
                  <a:srgbClr val="1F4E79"/>
                </a:solidFill>
                <a:latin typeface="Arial"/>
              </a:rPr>
              <a:t xml:space="preserve">&gt;</a:t>
            </a:r>
            <a:endParaRPr lang="en-US" sz="2300"/>
          </a:p>
        </p:txBody>
      </p:sp>
      <p:sp xmlns:p="http://schemas.openxmlformats.org/presentationml/2006/main" xmlns:a="http://schemas.openxmlformats.org/drawingml/2006/main" xmlns:r="http://schemas.openxmlformats.org/officeDocument/2006/relationships">
        <p:nvSpPr>
          <p:cNvPr id="17414" name="Pipeline 1"/>
          <p:cNvSpPr txBox="1"/>
          <p:nvPr/>
        </p:nvSpPr>
        <p:spPr>
          <a:xfrm>
            <a:off x="3474720" y="3538728"/>
            <a:ext cx="2633472" cy="1078992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txBody>
          <a:bodyPr wrap="square" lIns="128016" rIns="128016" tIns="128016" bIns="128016" anchor="ctr">
            <a:noAutofit/>
          </a:bodyPr>
          <a:lstStyle/>
          <a:p>
            <a:pPr algn="ctr" marL="0" indent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2100" b="1">
                <a:solidFill>
                  <a:srgbClr val="1F4E79"/>
                </a:solidFill>
                <a:latin typeface="Arial"/>
              </a:rPr>
              <a:t xml:space="preserve">Validate</a:t>
            </a:r>
            <a:endParaRPr lang="en-US" sz="2100"/>
          </a:p>
          <a:p>
            <a:pPr algn="ctr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600" b="0">
                <a:solidFill>
                  <a:srgbClr val="172F42"/>
                </a:solidFill>
                <a:latin typeface="Arial"/>
              </a:rPr>
              <a:t xml:space="preserve">Identity, timestamps and units</a:t>
            </a:r>
            <a:endParaRPr lang="en-US" sz="1600"/>
          </a:p>
        </p:txBody>
      </p:sp>
      <p:sp xmlns:p="http://schemas.openxmlformats.org/presentationml/2006/main" xmlns:a="http://schemas.openxmlformats.org/drawingml/2006/main" xmlns:r="http://schemas.openxmlformats.org/officeDocument/2006/relationships">
        <p:nvSpPr>
          <p:cNvPr id="17415" name="Arrow 1"/>
          <p:cNvSpPr txBox="1"/>
          <p:nvPr/>
        </p:nvSpPr>
        <p:spPr>
          <a:xfrm>
            <a:off x="6099048" y="3813048"/>
            <a:ext cx="292608" cy="502920"/>
          </a:xfrm>
          <a:prstGeom prst="round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ctr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2300" b="1">
                <a:solidFill>
                  <a:srgbClr val="1F4E79"/>
                </a:solidFill>
                <a:latin typeface="Arial"/>
              </a:rPr>
              <a:t xml:space="preserve">&gt;</a:t>
            </a:r>
            <a:endParaRPr lang="en-US" sz="2300"/>
          </a:p>
        </p:txBody>
      </p:sp>
      <p:sp xmlns:p="http://schemas.openxmlformats.org/presentationml/2006/main" xmlns:a="http://schemas.openxmlformats.org/drawingml/2006/main" xmlns:r="http://schemas.openxmlformats.org/officeDocument/2006/relationships">
        <p:nvSpPr>
          <p:cNvPr id="17416" name="Pipeline 2"/>
          <p:cNvSpPr txBox="1"/>
          <p:nvPr/>
        </p:nvSpPr>
        <p:spPr>
          <a:xfrm>
            <a:off x="6382512" y="3538728"/>
            <a:ext cx="2633472" cy="1078992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txBody>
          <a:bodyPr wrap="square" lIns="128016" rIns="128016" tIns="128016" bIns="128016" anchor="ctr">
            <a:noAutofit/>
          </a:bodyPr>
          <a:lstStyle/>
          <a:p>
            <a:pPr algn="ctr" marL="0" indent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2100" b="1">
                <a:solidFill>
                  <a:srgbClr val="1F4E79"/>
                </a:solidFill>
                <a:latin typeface="Arial"/>
              </a:rPr>
              <a:t xml:space="preserve">Hybrid twin</a:t>
            </a:r>
            <a:endParaRPr lang="en-US" sz="2100"/>
          </a:p>
          <a:p>
            <a:pPr algn="ctr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600" b="0">
                <a:solidFill>
                  <a:srgbClr val="172F42"/>
                </a:solidFill>
                <a:latin typeface="Arial"/>
              </a:rPr>
              <a:t xml:space="preserve">Reference, residuals and health</a:t>
            </a:r>
            <a:endParaRPr lang="en-US" sz="1600"/>
          </a:p>
        </p:txBody>
      </p:sp>
      <p:sp xmlns:p="http://schemas.openxmlformats.org/presentationml/2006/main" xmlns:a="http://schemas.openxmlformats.org/drawingml/2006/main" xmlns:r="http://schemas.openxmlformats.org/officeDocument/2006/relationships">
        <p:nvSpPr>
          <p:cNvPr id="17417" name="Arrow 2"/>
          <p:cNvSpPr txBox="1"/>
          <p:nvPr/>
        </p:nvSpPr>
        <p:spPr>
          <a:xfrm>
            <a:off x="9006840" y="3813048"/>
            <a:ext cx="292608" cy="502920"/>
          </a:xfrm>
          <a:prstGeom prst="round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ctr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2300" b="1">
                <a:solidFill>
                  <a:srgbClr val="1F4E79"/>
                </a:solidFill>
                <a:latin typeface="Arial"/>
              </a:rPr>
              <a:t xml:space="preserve">&gt;</a:t>
            </a:r>
            <a:endParaRPr lang="en-US" sz="2300"/>
          </a:p>
        </p:txBody>
      </p:sp>
      <p:sp xmlns:p="http://schemas.openxmlformats.org/presentationml/2006/main" xmlns:a="http://schemas.openxmlformats.org/drawingml/2006/main" xmlns:r="http://schemas.openxmlformats.org/officeDocument/2006/relationships">
        <p:nvSpPr>
          <p:cNvPr id="17418" name="Pipeline 3"/>
          <p:cNvSpPr txBox="1"/>
          <p:nvPr/>
        </p:nvSpPr>
        <p:spPr>
          <a:xfrm>
            <a:off x="9290304" y="3538728"/>
            <a:ext cx="2633472" cy="1078992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txBody>
          <a:bodyPr wrap="square" lIns="128016" rIns="128016" tIns="128016" bIns="128016" anchor="ctr">
            <a:noAutofit/>
          </a:bodyPr>
          <a:lstStyle/>
          <a:p>
            <a:pPr algn="ctr" marL="0" indent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2100" b="1">
                <a:solidFill>
                  <a:srgbClr val="1F4E79"/>
                </a:solidFill>
                <a:latin typeface="Arial"/>
              </a:rPr>
              <a:t xml:space="preserve">Review</a:t>
            </a:r>
            <a:endParaRPr lang="en-US" sz="2100"/>
          </a:p>
          <a:p>
            <a:pPr algn="ctr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600" b="0">
                <a:solidFill>
                  <a:srgbClr val="172F42"/>
                </a:solidFill>
                <a:latin typeface="Arial"/>
              </a:rPr>
              <a:t xml:space="preserve">Mission analysis + evidence</a:t>
            </a:r>
            <a:endParaRPr lang="en-US" sz="1600"/>
          </a:p>
        </p:txBody>
      </p:sp>
      <p:sp xmlns:p="http://schemas.openxmlformats.org/presentationml/2006/main" xmlns:a="http://schemas.openxmlformats.org/drawingml/2006/main" xmlns:r="http://schemas.openxmlformats.org/officeDocument/2006/relationships">
        <p:nvSpPr>
          <p:cNvPr id="17419" name="Modes"/>
          <p:cNvSpPr txBox="1"/>
          <p:nvPr/>
        </p:nvSpPr>
        <p:spPr>
          <a:xfrm>
            <a:off x="576072" y="4992624"/>
            <a:ext cx="11000232" cy="795528"/>
          </a:xfrm>
          <a:prstGeom prst="round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700" b="1">
                <a:solidFill>
                  <a:srgbClr val="172F42"/>
                </a:solidFill>
                <a:latin typeface="Arial"/>
              </a:rPr>
              <a:t xml:space="preserve">HOSTED: browser synthetic demonstration  |  LOCAL: authenticated backend + persistence</a:t>
            </a:r>
            <a:endParaRPr lang="en-US" sz="1700"/>
          </a:p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700" b="0">
                <a:solidFill>
                  <a:srgbClr val="172F42"/>
                </a:solidFill>
                <a:latin typeface="Arial"/>
              </a:rPr>
              <a:t xml:space="preserve">Evaluation Center: baseline capture → progressive fault → comparison → source-labeled JSON export.</a:t>
            </a:r>
            <a:endParaRPr lang="en-US" sz="1700"/>
          </a:p>
        </p:txBody>
      </p:sp>
      <p:sp xmlns:p="http://schemas.openxmlformats.org/presentationml/2006/main" xmlns:a="http://schemas.openxmlformats.org/drawingml/2006/main" xmlns:r="http://schemas.openxmlformats.org/officeDocument/2006/relationships">
        <p:nvSpPr>
          <p:cNvPr id="17420" name="Data hold"/>
          <p:cNvSpPr txBox="1"/>
          <p:nvPr/>
        </p:nvSpPr>
        <p:spPr>
          <a:xfrm>
            <a:off x="594360" y="5952744"/>
            <a:ext cx="10991088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400" b="1">
                <a:solidFill>
                  <a:srgbClr val="976008"/>
                </a:solidFill>
                <a:latin typeface="Arial"/>
              </a:rPr>
              <a:t xml:space="preserve">Freshness and quality gate decisions. Insufficient live evidence produces DATA HOLD.</a:t>
            </a:r>
            <a:endParaRPr lang="en-US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8640" y="1399032"/>
            <a:ext cx="1101852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54864" rIns="54864" tIns="54864" bIns="54864" anchor="t">
            <a:noAutofit/>
          </a:bodyPr>
          <a:lstStyle/>
          <a:p>
            <a:pPr algn="l"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900" b="1">
                <a:solidFill>
                  <a:srgbClr val="1F4E79"/>
                </a:solidFill>
                <a:latin typeface="Arial"/>
              </a:rPr>
              <a:t xml:space="preserve">Analysis of the feasibility of the idea</a:t>
            </a:r>
            <a:endParaRPr lang="en-US" sz="1900"/>
          </a:p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800" b="0">
                <a:solidFill>
                  <a:srgbClr val="172F42"/>
                </a:solidFill>
                <a:latin typeface="Arial"/>
              </a:rPr>
              <a:t xml:space="preserve">Implemented software demonstrator: telemetry contract, explainable analytics, mission comparison, replay and evidence export. Modular replacement of the generic reference supports later calibration.</a:t>
            </a:r>
            <a:endParaRPr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27432" rIns="27432" tIns="27432" bIns="27432" anchor="ctr">
            <a:noAutofit/>
          </a:bodyPr>
          <a:lstStyle/>
          <a:p>
            <a:pPr algn="ctr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200" b="1">
                <a:solidFill>
                  <a:srgbClr val="172F42"/>
                </a:solidFill>
                <a:latin typeface="Arial"/>
              </a:rPr>
              <a:t xml:space="preserve">MINDMESH</a:t>
            </a:r>
            <a:endParaRPr lang="en-US" sz="120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 xmlns:p="http://schemas.openxmlformats.org/presentationml/2006/main" xmlns:a="http://schemas.openxmlformats.org/drawingml/2006/main" xmlns:r="http://schemas.openxmlformats.org/officeDocument/2006/relationships">
        <p:nvSpPr>
          <p:cNvPr id="17411" name="Challenges"/>
          <p:cNvSpPr txBox="1"/>
          <p:nvPr/>
        </p:nvSpPr>
        <p:spPr>
          <a:xfrm>
            <a:off x="566928" y="2825496"/>
            <a:ext cx="11000232" cy="1408176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txBody>
          <a:bodyPr wrap="square" lIns="128016" rIns="128016" tIns="128016" bIns="128016" anchor="t">
            <a:noAutofit/>
          </a:bodyPr>
          <a:lstStyle/>
          <a:p>
            <a:pPr algn="l"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900" b="1">
                <a:solidFill>
                  <a:srgbClr val="1F4E79"/>
                </a:solidFill>
                <a:latin typeface="Arial"/>
              </a:rPr>
              <a:t xml:space="preserve">Potential challenges and risks</a:t>
            </a:r>
            <a:endParaRPr lang="en-US" sz="1900"/>
          </a:p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800" b="0">
                <a:solidFill>
                  <a:srgbClr val="172F42"/>
                </a:solidFill>
                <a:latin typeface="Arial"/>
              </a:rPr>
              <a:t xml:space="preserve">No authorized real-engine labels yet. Physics and synthetic training share assumptions. RUL bands and mission scores are uncalibrated. Current runtime serves one configured engine.</a:t>
            </a:r>
            <a:endParaRPr lang="en-US" sz="1800"/>
          </a:p>
        </p:txBody>
      </p:sp>
      <p:sp xmlns:p="http://schemas.openxmlformats.org/presentationml/2006/main" xmlns:a="http://schemas.openxmlformats.org/drawingml/2006/main" xmlns:r="http://schemas.openxmlformats.org/officeDocument/2006/relationships">
        <p:nvSpPr>
          <p:cNvPr id="17412" name="Strategies"/>
          <p:cNvSpPr txBox="1"/>
          <p:nvPr/>
        </p:nvSpPr>
        <p:spPr>
          <a:xfrm>
            <a:off x="566928" y="4352544"/>
            <a:ext cx="11000232" cy="1298448"/>
          </a:xfrm>
          <a:prstGeom prst="round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900" b="1">
                <a:solidFill>
                  <a:srgbClr val="1F4E79"/>
                </a:solidFill>
                <a:latin typeface="Arial"/>
              </a:rPr>
              <a:t xml:space="preserve">Strategies for overcoming these challenges</a:t>
            </a:r>
            <a:endParaRPr lang="en-US" sz="1900"/>
          </a:p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800" b="0">
                <a:solidFill>
                  <a:srgbClr val="172F42"/>
                </a:solidFill>
                <a:latin typeface="Arial"/>
              </a:rPr>
              <a:t xml:space="preserve">Read-only rig integration → verified channels and independent labels → engine-map calibration → held-out threshold/hybrid comparison → hardware-in-the-loop and security review.</a:t>
            </a:r>
            <a:endParaRPr lang="en-US" sz="1800"/>
          </a:p>
        </p:txBody>
      </p:sp>
      <p:sp xmlns:p="http://schemas.openxmlformats.org/presentationml/2006/main" xmlns:a="http://schemas.openxmlformats.org/drawingml/2006/main" xmlns:r="http://schemas.openxmlformats.org/officeDocument/2006/relationships">
        <p:nvSpPr>
          <p:cNvPr id="17413" name="Metrics plan"/>
          <p:cNvSpPr txBox="1"/>
          <p:nvPr/>
        </p:nvSpPr>
        <p:spPr>
          <a:xfrm>
            <a:off x="576072" y="5824728"/>
            <a:ext cx="11018520" cy="329184"/>
          </a:xfrm>
          <a:prstGeom prst="round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400" b="1">
                <a:solidFill>
                  <a:srgbClr val="976008"/>
                </a:solidFill>
                <a:latin typeface="Arial"/>
              </a:rPr>
              <a:t xml:space="preserve">Planned measures: false alarms/hour, fault recall, warning lead time, RUL coverage and hardware latency.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66928" y="1399032"/>
            <a:ext cx="10972800" cy="429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54864" rIns="54864" tIns="54864" bIns="54864" anchor="t">
            <a:noAutofit/>
          </a:bodyPr>
          <a:lstStyle/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2000" b="1">
                <a:solidFill>
                  <a:srgbClr val="1F4E79"/>
                </a:solidFill>
                <a:latin typeface="Arial"/>
              </a:rPr>
              <a:t xml:space="preserve">Potential impact on the target audience</a:t>
            </a:r>
            <a:endParaRPr lang="en-US" sz="20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27432" rIns="27432" tIns="27432" bIns="27432" anchor="ctr">
            <a:noAutofit/>
          </a:bodyPr>
          <a:lstStyle/>
          <a:p>
            <a:pPr algn="ctr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200" b="1">
                <a:solidFill>
                  <a:srgbClr val="172F42"/>
                </a:solidFill>
                <a:latin typeface="Arial"/>
              </a:rPr>
              <a:t xml:space="preserve">MINDMESH</a:t>
            </a:r>
            <a:endParaRPr lang="en-US" sz="120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 xmlns:p="http://schemas.openxmlformats.org/presentationml/2006/main" xmlns:a="http://schemas.openxmlformats.org/drawingml/2006/main" xmlns:r="http://schemas.openxmlformats.org/officeDocument/2006/relationships">
        <p:nvSpPr>
          <p:cNvPr id="17411" name="Audience 0"/>
          <p:cNvSpPr txBox="1"/>
          <p:nvPr/>
        </p:nvSpPr>
        <p:spPr>
          <a:xfrm>
            <a:off x="566928" y="2011680"/>
            <a:ext cx="3538728" cy="1490472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txBody>
          <a:bodyPr wrap="square" lIns="128016" rIns="128016" tIns="128016" bIns="128016" anchor="t">
            <a:noAutofit/>
          </a:bodyPr>
          <a:lstStyle/>
          <a:p>
            <a:pPr algn="l" marL="0" indent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2200" b="1">
                <a:solidFill>
                  <a:srgbClr val="1F4E79"/>
                </a:solidFill>
                <a:latin typeface="Arial"/>
              </a:rPr>
              <a:t xml:space="preserve">UAV operators</a:t>
            </a:r>
            <a:endParaRPr lang="en-US" sz="2200"/>
          </a:p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600" b="0">
                <a:solidFill>
                  <a:srgbClr val="172F42"/>
                </a:solidFill>
                <a:latin typeface="Arial"/>
              </a:rPr>
              <a:t xml:space="preserve">See data readiness and the evidence behind a changing engine condition.</a:t>
            </a:r>
            <a:endParaRPr lang="en-US" sz="1600"/>
          </a:p>
        </p:txBody>
      </p:sp>
      <p:sp xmlns:p="http://schemas.openxmlformats.org/presentationml/2006/main" xmlns:a="http://schemas.openxmlformats.org/drawingml/2006/main" xmlns:r="http://schemas.openxmlformats.org/officeDocument/2006/relationships">
        <p:nvSpPr>
          <p:cNvPr id="17412" name="Audience 1"/>
          <p:cNvSpPr txBox="1"/>
          <p:nvPr/>
        </p:nvSpPr>
        <p:spPr>
          <a:xfrm>
            <a:off x="4407408" y="2011680"/>
            <a:ext cx="3538728" cy="1490472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txBody>
          <a:bodyPr wrap="square" lIns="128016" rIns="128016" tIns="128016" bIns="128016" anchor="t">
            <a:noAutofit/>
          </a:bodyPr>
          <a:lstStyle/>
          <a:p>
            <a:pPr algn="l" marL="0" indent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2200" b="1">
                <a:solidFill>
                  <a:srgbClr val="1F4E79"/>
                </a:solidFill>
                <a:latin typeface="Arial"/>
              </a:rPr>
              <a:t xml:space="preserve">Propulsion engineers</a:t>
            </a:r>
            <a:endParaRPr lang="en-US" sz="2200"/>
          </a:p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600" b="0">
                <a:solidFill>
                  <a:srgbClr val="172F42"/>
                </a:solidFill>
                <a:latin typeface="Arial"/>
              </a:rPr>
              <a:t xml:space="preserve">Inspect operating-context residuals and compare modelled profiles.</a:t>
            </a:r>
            <a:endParaRPr lang="en-US" sz="1600"/>
          </a:p>
        </p:txBody>
      </p:sp>
      <p:sp xmlns:p="http://schemas.openxmlformats.org/presentationml/2006/main" xmlns:a="http://schemas.openxmlformats.org/drawingml/2006/main" xmlns:r="http://schemas.openxmlformats.org/officeDocument/2006/relationships">
        <p:nvSpPr>
          <p:cNvPr id="17413" name="Audience 2"/>
          <p:cNvSpPr txBox="1"/>
          <p:nvPr/>
        </p:nvSpPr>
        <p:spPr>
          <a:xfrm>
            <a:off x="8247888" y="2011680"/>
            <a:ext cx="3538728" cy="1490472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txBody>
          <a:bodyPr wrap="square" lIns="128016" rIns="128016" tIns="128016" bIns="128016" anchor="t">
            <a:noAutofit/>
          </a:bodyPr>
          <a:lstStyle/>
          <a:p>
            <a:pPr algn="l" marL="0" indent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2200" b="1">
                <a:solidFill>
                  <a:srgbClr val="1F4E79"/>
                </a:solidFill>
                <a:latin typeface="Arial"/>
              </a:rPr>
              <a:t xml:space="preserve">Maintenance teams</a:t>
            </a:r>
            <a:endParaRPr lang="en-US" sz="2200"/>
          </a:p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600" b="0">
                <a:solidFill>
                  <a:srgbClr val="172F42"/>
                </a:solidFill>
                <a:latin typeface="Arial"/>
              </a:rPr>
              <a:t xml:space="preserve">Review recorded events, probable conditions and engineering guidance.</a:t>
            </a:r>
            <a:endParaRPr lang="en-US" sz="1600"/>
          </a:p>
        </p:txBody>
      </p:sp>
      <p:sp xmlns:p="http://schemas.openxmlformats.org/presentationml/2006/main" xmlns:a="http://schemas.openxmlformats.org/drawingml/2006/main" xmlns:r="http://schemas.openxmlformats.org/officeDocument/2006/relationships">
        <p:nvSpPr>
          <p:cNvPr id="17414" name="Benefits pointer"/>
          <p:cNvSpPr txBox="1"/>
          <p:nvPr/>
        </p:nvSpPr>
        <p:spPr>
          <a:xfrm>
            <a:off x="576072" y="3776472"/>
            <a:ext cx="10991088" cy="640080"/>
          </a:xfrm>
          <a:prstGeom prst="round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2000" b="1">
                <a:solidFill>
                  <a:srgbClr val="1F4E79"/>
                </a:solidFill>
                <a:latin typeface="Arial"/>
              </a:rPr>
              <a:t xml:space="preserve">Benefits of the solution (social, economic, environmental, etc.)</a:t>
            </a:r>
            <a:endParaRPr lang="en-US" sz="2000"/>
          </a:p>
        </p:txBody>
      </p:sp>
      <p:sp xmlns:p="http://schemas.openxmlformats.org/presentationml/2006/main" xmlns:a="http://schemas.openxmlformats.org/drawingml/2006/main" xmlns:r="http://schemas.openxmlformats.org/officeDocument/2006/relationships">
        <p:nvSpPr>
          <p:cNvPr id="17415" name="Benefit 0"/>
          <p:cNvSpPr txBox="1"/>
          <p:nvPr/>
        </p:nvSpPr>
        <p:spPr>
          <a:xfrm>
            <a:off x="576072" y="4562856"/>
            <a:ext cx="3529584" cy="1188720"/>
          </a:xfrm>
          <a:prstGeom prst="round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800" b="1">
                <a:solidFill>
                  <a:srgbClr val="1F4E79"/>
                </a:solidFill>
                <a:latin typeface="Arial"/>
              </a:rPr>
              <a:t xml:space="preserve">Reliability research</a:t>
            </a:r>
            <a:endParaRPr lang="en-US" sz="1800"/>
          </a:p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700" b="0">
                <a:solidFill>
                  <a:srgbClr val="172F42"/>
                </a:solidFill>
                <a:latin typeface="Arial"/>
              </a:rPr>
              <a:t xml:space="preserve">Earlier engineering review and better use of condition history.</a:t>
            </a:r>
            <a:endParaRPr lang="en-US" sz="1700"/>
          </a:p>
        </p:txBody>
      </p:sp>
      <p:sp xmlns:p="http://schemas.openxmlformats.org/presentationml/2006/main" xmlns:a="http://schemas.openxmlformats.org/drawingml/2006/main" xmlns:r="http://schemas.openxmlformats.org/officeDocument/2006/relationships">
        <p:nvSpPr>
          <p:cNvPr id="17416" name="Benefit 1"/>
          <p:cNvSpPr txBox="1"/>
          <p:nvPr/>
        </p:nvSpPr>
        <p:spPr>
          <a:xfrm>
            <a:off x="4416552" y="4562856"/>
            <a:ext cx="3529584" cy="1188720"/>
          </a:xfrm>
          <a:prstGeom prst="round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800" b="1">
                <a:solidFill>
                  <a:srgbClr val="1F4E79"/>
                </a:solidFill>
                <a:latin typeface="Arial"/>
              </a:rPr>
              <a:t xml:space="preserve">Engineering efficiency</a:t>
            </a:r>
            <a:endParaRPr lang="en-US" sz="1800"/>
          </a:p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700" b="0">
                <a:solidFill>
                  <a:srgbClr val="172F42"/>
                </a:solidFill>
                <a:latin typeface="Arial"/>
              </a:rPr>
              <a:t xml:space="preserve">A repeatable scenario and reusable evidence trail for diagnosis.</a:t>
            </a:r>
            <a:endParaRPr lang="en-US" sz="1700"/>
          </a:p>
        </p:txBody>
      </p:sp>
      <p:sp xmlns:p="http://schemas.openxmlformats.org/presentationml/2006/main" xmlns:a="http://schemas.openxmlformats.org/drawingml/2006/main" xmlns:r="http://schemas.openxmlformats.org/officeDocument/2006/relationships">
        <p:nvSpPr>
          <p:cNvPr id="17417" name="Benefit 2"/>
          <p:cNvSpPr txBox="1"/>
          <p:nvPr/>
        </p:nvSpPr>
        <p:spPr>
          <a:xfrm>
            <a:off x="8257032" y="4562856"/>
            <a:ext cx="3529584" cy="1188720"/>
          </a:xfrm>
          <a:prstGeom prst="round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800" b="1">
                <a:solidFill>
                  <a:srgbClr val="1F4E79"/>
                </a:solidFill>
                <a:latin typeface="Arial"/>
              </a:rPr>
              <a:t xml:space="preserve">Resource stewardship</a:t>
            </a:r>
            <a:endParaRPr lang="en-US" sz="1800"/>
          </a:p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700" b="0">
                <a:solidFill>
                  <a:srgbClr val="172F42"/>
                </a:solidFill>
                <a:latin typeface="Arial"/>
              </a:rPr>
              <a:t xml:space="preserve">Potential for condition-led maintenance; savings require field measurement.</a:t>
            </a:r>
            <a:endParaRPr lang="en-US" sz="1700"/>
          </a:p>
        </p:txBody>
      </p:sp>
      <p:sp xmlns:p="http://schemas.openxmlformats.org/presentationml/2006/main" xmlns:a="http://schemas.openxmlformats.org/drawingml/2006/main" xmlns:r="http://schemas.openxmlformats.org/officeDocument/2006/relationships">
        <p:nvSpPr>
          <p:cNvPr id="17418" name="Impact boundary"/>
          <p:cNvSpPr txBox="1"/>
          <p:nvPr/>
        </p:nvSpPr>
        <p:spPr>
          <a:xfrm>
            <a:off x="594360" y="5961888"/>
            <a:ext cx="10972800" cy="246888"/>
          </a:xfrm>
          <a:prstGeom prst="round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400" b="1">
                <a:solidFill>
                  <a:srgbClr val="976008"/>
                </a:solidFill>
                <a:latin typeface="Arial"/>
              </a:rPr>
              <a:t xml:space="preserve">Intended benefits, not measured fleet outcomes. No claimed percentage reduction in failures, cost or fuel.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76072" y="1389888"/>
            <a:ext cx="10972800" cy="502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54864" rIns="54864" tIns="54864" bIns="54864" anchor="t">
            <a:noAutofit/>
          </a:bodyPr>
          <a:lstStyle/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2000" b="1">
                <a:solidFill>
                  <a:srgbClr val="1F4E79"/>
                </a:solidFill>
                <a:latin typeface="Arial"/>
              </a:rPr>
              <a:t xml:space="preserve">Details / Links of the reference and research work</a:t>
            </a:r>
            <a:endParaRPr lang="en-US" sz="20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27432" rIns="27432" tIns="27432" bIns="27432" anchor="ctr">
            <a:noAutofit/>
          </a:bodyPr>
          <a:lstStyle/>
          <a:p>
            <a:pPr algn="ctr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200" b="1">
                <a:solidFill>
                  <a:srgbClr val="172F42"/>
                </a:solidFill>
                <a:latin typeface="Arial"/>
              </a:rPr>
              <a:t xml:space="preserve">MINDMESH</a:t>
            </a:r>
            <a:endParaRPr lang="en-US" sz="120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 xmlns:p="http://schemas.openxmlformats.org/presentationml/2006/main" xmlns:a="http://schemas.openxmlformats.org/drawingml/2006/main" xmlns:r="http://schemas.openxmlformats.org/officeDocument/2006/relationships">
        <p:nvSpPr>
          <p:cNvPr id="17411" name="Reference 0"/>
          <p:cNvSpPr txBox="1"/>
          <p:nvPr/>
        </p:nvSpPr>
        <p:spPr>
          <a:xfrm>
            <a:off x="612648" y="1984248"/>
            <a:ext cx="10972800" cy="7315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txBody>
          <a:bodyPr wrap="square" lIns="36576" rIns="36576" tIns="36576" bIns="36576" anchor="t">
            <a:noAutofit/>
          </a:bodyPr>
          <a:lstStyle/>
          <a:p>
            <a:pPr algn="l" marL="0" indent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500" b="1">
                <a:solidFill>
                  <a:srgbClr val="1F4E79"/>
                </a:solidFill>
                <a:latin typeface="Arial"/>
              </a:rPr>
              <a:t xml:space="preserve">Official SIH26054 problem statement</a:t>
            </a:r>
            <a:endParaRPr lang="en-US" sz="1500"/>
          </a:p>
          <a:p>
            <a:pPr algn="l" marL="0" indent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200" b="0">
                <a:solidFill>
                  <a:srgbClr val="1F4E79"/>
                </a:solidFill>
                <a:latin typeface="Arial"/>
              </a:rPr>
              <a:t xml:space="preserve">sih.gov.in/sih2026PS</a:t>
            </a:r>
            <a:endParaRPr lang="en-US" sz="1200"/>
          </a:p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200" b="0">
                <a:solidFill>
                  <a:srgbClr val="526879"/>
                </a:solidFill>
                <a:latin typeface="Arial"/>
              </a:rPr>
              <a:t xml:space="preserve">Scope and deliverables for the selected DRDO challenge.</a:t>
            </a:r>
            <a:endParaRPr lang="en-US" sz="1200"/>
          </a:p>
        </p:txBody>
      </p:sp>
      <p:sp xmlns:p="http://schemas.openxmlformats.org/presentationml/2006/main" xmlns:a="http://schemas.openxmlformats.org/drawingml/2006/main" xmlns:r="http://schemas.openxmlformats.org/officeDocument/2006/relationships">
        <p:nvSpPr>
          <p:cNvPr id="17412" name="Reference 1"/>
          <p:cNvSpPr txBox="1"/>
          <p:nvPr/>
        </p:nvSpPr>
        <p:spPr>
          <a:xfrm>
            <a:off x="612648" y="2734056"/>
            <a:ext cx="10972800" cy="731520"/>
          </a:xfrm>
          <a:prstGeom prst="round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noAutofit/>
          </a:bodyPr>
          <a:lstStyle/>
          <a:p>
            <a:pPr algn="l" marL="0" indent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500" b="1">
                <a:solidFill>
                  <a:srgbClr val="1F4E79"/>
                </a:solidFill>
                <a:latin typeface="Arial"/>
              </a:rPr>
              <a:t xml:space="preserve">NIST - Digital twins</a:t>
            </a:r>
            <a:endParaRPr lang="en-US" sz="1500"/>
          </a:p>
          <a:p>
            <a:pPr algn="l" marL="0" indent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200" b="0">
                <a:solidFill>
                  <a:srgbClr val="1F4E79"/>
                </a:solidFill>
                <a:latin typeface="Arial"/>
              </a:rPr>
              <a:t xml:space="preserve">nist.gov/digital-twins</a:t>
            </a:r>
            <a:endParaRPr lang="en-US" sz="1200"/>
          </a:p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200" b="0">
                <a:solidFill>
                  <a:srgbClr val="526879"/>
                </a:solidFill>
                <a:latin typeface="Arial"/>
              </a:rPr>
              <a:t xml:space="preserve">Digital-twin concepts, essential elements and validation context.</a:t>
            </a:r>
            <a:endParaRPr lang="en-US" sz="1200"/>
          </a:p>
        </p:txBody>
      </p:sp>
      <p:sp xmlns:p="http://schemas.openxmlformats.org/presentationml/2006/main" xmlns:a="http://schemas.openxmlformats.org/drawingml/2006/main" xmlns:r="http://schemas.openxmlformats.org/officeDocument/2006/relationships">
        <p:nvSpPr>
          <p:cNvPr id="17413" name="Reference 2"/>
          <p:cNvSpPr txBox="1"/>
          <p:nvPr/>
        </p:nvSpPr>
        <p:spPr>
          <a:xfrm>
            <a:off x="612648" y="3483863"/>
            <a:ext cx="10972800" cy="7315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txBody>
          <a:bodyPr wrap="square" lIns="36576" rIns="36576" tIns="36576" bIns="36576" anchor="t">
            <a:noAutofit/>
          </a:bodyPr>
          <a:lstStyle/>
          <a:p>
            <a:pPr algn="l" marL="0" indent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500" b="1">
                <a:solidFill>
                  <a:srgbClr val="1F4E79"/>
                </a:solidFill>
                <a:latin typeface="Arial"/>
              </a:rPr>
              <a:t xml:space="preserve">IsolationForest - scikit-learn documentation</a:t>
            </a:r>
            <a:endParaRPr lang="en-US" sz="1500"/>
          </a:p>
          <a:p>
            <a:pPr algn="l" marL="0" indent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200" b="0">
                <a:solidFill>
                  <a:srgbClr val="1F4E79"/>
                </a:solidFill>
                <a:latin typeface="Arial"/>
              </a:rPr>
              <a:t xml:space="preserve">scikit-learn.org/stable/modules/generated/sklearn.ensemble.IsolationForest.html</a:t>
            </a:r>
            <a:endParaRPr lang="en-US" sz="1200"/>
          </a:p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200" b="0">
                <a:solidFill>
                  <a:srgbClr val="526879"/>
                </a:solidFill>
                <a:latin typeface="Arial"/>
              </a:rPr>
              <a:t xml:space="preserve">Anomaly-model implementation reference.</a:t>
            </a:r>
            <a:endParaRPr lang="en-US" sz="1200"/>
          </a:p>
        </p:txBody>
      </p:sp>
      <p:sp xmlns:p="http://schemas.openxmlformats.org/presentationml/2006/main" xmlns:a="http://schemas.openxmlformats.org/drawingml/2006/main" xmlns:r="http://schemas.openxmlformats.org/officeDocument/2006/relationships">
        <p:nvSpPr>
          <p:cNvPr id="17414" name="Reference 3"/>
          <p:cNvSpPr txBox="1"/>
          <p:nvPr/>
        </p:nvSpPr>
        <p:spPr>
          <a:xfrm>
            <a:off x="612648" y="4233672"/>
            <a:ext cx="10972800" cy="731520"/>
          </a:xfrm>
          <a:prstGeom prst="round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noAutofit/>
          </a:bodyPr>
          <a:lstStyle/>
          <a:p>
            <a:pPr algn="l" marL="0" indent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500" b="1">
                <a:solidFill>
                  <a:srgbClr val="1F4E79"/>
                </a:solidFill>
                <a:latin typeface="Arial"/>
              </a:rPr>
              <a:t xml:space="preserve">Chen &amp; Guestrin (2016) - XGBoost</a:t>
            </a:r>
            <a:endParaRPr lang="en-US" sz="1500"/>
          </a:p>
          <a:p>
            <a:pPr algn="l" marL="0" indent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200" b="0">
                <a:solidFill>
                  <a:srgbClr val="1F4E79"/>
                </a:solidFill>
                <a:latin typeface="Arial"/>
              </a:rPr>
              <a:t xml:space="preserve">arxiv.org/abs/1603.02754</a:t>
            </a:r>
            <a:endParaRPr lang="en-US" sz="1200"/>
          </a:p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200" b="0">
                <a:solidFill>
                  <a:srgbClr val="526879"/>
                </a:solidFill>
                <a:latin typeface="Arial"/>
              </a:rPr>
              <a:t xml:space="preserve">Tree-boosting method used by the optional synthetic model pipeline.</a:t>
            </a:r>
            <a:endParaRPr lang="en-US" sz="1200"/>
          </a:p>
        </p:txBody>
      </p:sp>
      <p:sp xmlns:p="http://schemas.openxmlformats.org/presentationml/2006/main" xmlns:a="http://schemas.openxmlformats.org/drawingml/2006/main" xmlns:r="http://schemas.openxmlformats.org/officeDocument/2006/relationships">
        <p:nvSpPr>
          <p:cNvPr id="17415" name="Reference 4"/>
          <p:cNvSpPr txBox="1"/>
          <p:nvPr/>
        </p:nvSpPr>
        <p:spPr>
          <a:xfrm>
            <a:off x="612648" y="4983479"/>
            <a:ext cx="10972800" cy="7315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txBody>
          <a:bodyPr wrap="square" lIns="36576" rIns="36576" tIns="36576" bIns="36576" anchor="t">
            <a:noAutofit/>
          </a:bodyPr>
          <a:lstStyle/>
          <a:p>
            <a:pPr algn="l" marL="0" indent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500" b="1">
                <a:solidFill>
                  <a:srgbClr val="1F4E79"/>
                </a:solidFill>
                <a:latin typeface="Arial"/>
              </a:rPr>
              <a:t xml:space="preserve">TwinGuard Aero - source, model card and validation</a:t>
            </a:r>
            <a:endParaRPr lang="en-US" sz="1500"/>
          </a:p>
          <a:p>
            <a:pPr algn="l" marL="0" indent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200" b="0">
                <a:solidFill>
                  <a:srgbClr val="1F4E79"/>
                </a:solidFill>
                <a:latin typeface="Arial"/>
              </a:rPr>
              <a:t xml:space="preserve">github.com/krishnatayal1410/twinguard-aero</a:t>
            </a:r>
            <a:endParaRPr lang="en-US" sz="1200"/>
          </a:p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200" b="0">
                <a:solidFill>
                  <a:srgbClr val="526879"/>
                </a:solidFill>
                <a:latin typeface="Arial"/>
              </a:rPr>
              <a:t xml:space="preserve">Inspect implementation, generic-model assumptions and reproducible checks.</a:t>
            </a:r>
            <a:endParaRPr lang="en-US" sz="1200"/>
          </a:p>
        </p:txBody>
      </p:sp>
      <p:sp xmlns:p="http://schemas.openxmlformats.org/presentationml/2006/main" xmlns:a="http://schemas.openxmlformats.org/drawingml/2006/main" xmlns:r="http://schemas.openxmlformats.org/officeDocument/2006/relationships">
        <p:nvSpPr>
          <p:cNvPr id="17416" name="Validation reminder"/>
          <p:cNvSpPr txBox="1"/>
          <p:nvPr/>
        </p:nvSpPr>
        <p:spPr>
          <a:xfrm>
            <a:off x="621792" y="5943600"/>
            <a:ext cx="10927080" cy="246888"/>
          </a:xfrm>
          <a:prstGeom prst="round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noAutofit/>
          </a:bodyPr>
          <a:lstStyle/>
          <a:p>
            <a:pPr algn="l" marL="0" indent="0">
              <a:lnSpc>
                <a:spcPct val="112000"/>
              </a:lnSpc>
              <a:spcAft>
                <a:spcPts val="0"/>
              </a:spcAft>
              <a:buNone/>
            </a:pPr>
            <a:r>
              <a:rPr lang="en-US" sz="1400" b="1">
                <a:solidFill>
                  <a:srgbClr val="976008"/>
                </a:solidFill>
                <a:latin typeface="Arial"/>
              </a:rPr>
              <a:t xml:space="preserve">References support the approach; they do not validate this prototype on real engines.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